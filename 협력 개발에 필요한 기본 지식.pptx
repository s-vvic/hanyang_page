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7" r:id="rId9"/>
    <p:sldId id="268" r:id="rId10"/>
    <p:sldId id="272" r:id="rId11"/>
    <p:sldId id="263" r:id="rId12"/>
    <p:sldId id="264" r:id="rId13"/>
    <p:sldId id="265" r:id="rId14"/>
    <p:sldId id="266" r:id="rId15"/>
    <p:sldId id="269" r:id="rId16"/>
    <p:sldId id="270" r:id="rId17"/>
    <p:sldId id="271" r:id="rId18"/>
    <p:sldId id="274" r:id="rId19"/>
    <p:sldId id="273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7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presProps" Target="presProps.xml"  /><Relationship Id="rId27" Type="http://schemas.openxmlformats.org/officeDocument/2006/relationships/viewProps" Target="viewProps.xml"  /><Relationship Id="rId28" Type="http://schemas.openxmlformats.org/officeDocument/2006/relationships/theme" Target="theme/theme1.xml"  /><Relationship Id="rId29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8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9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78430" y="0"/>
            <a:ext cx="8235138" cy="4630004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1942147" y="4630004"/>
            <a:ext cx="8307705" cy="696799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4000"/>
              <a:t>git</a:t>
            </a:r>
            <a:r>
              <a:rPr lang="ko-KR" altLang="en-US" sz="4000"/>
              <a:t>과 </a:t>
            </a:r>
            <a:r>
              <a:rPr lang="en-US" altLang="ko-KR" sz="4000"/>
              <a:t>Github</a:t>
            </a:r>
            <a:r>
              <a:rPr lang="ko-KR" altLang="en-US" sz="4000"/>
              <a:t>를 이용한 협력 개발 방법</a:t>
            </a:r>
            <a:endParaRPr lang="ko-KR" altLang="en-US" sz="4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목차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git</a:t>
            </a:r>
            <a:r>
              <a:rPr lang="ko-KR" altLang="en-US"/>
              <a:t>과 </a:t>
            </a:r>
            <a:r>
              <a:rPr lang="en-US" altLang="ko-KR"/>
              <a:t>Github</a:t>
            </a:r>
            <a:r>
              <a:rPr lang="ko-KR" altLang="en-US"/>
              <a:t>에 대하여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 Github</a:t>
            </a:r>
            <a:r>
              <a:rPr lang="ko-KR" altLang="en-US"/>
              <a:t> 기본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</a:t>
            </a:r>
            <a:r>
              <a:rPr lang="en-US" altLang="ko-KR"/>
              <a:t>git</a:t>
            </a:r>
            <a:r>
              <a:rPr lang="ko-KR" altLang="en-US"/>
              <a:t> 기본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</a:t>
            </a:r>
            <a:r>
              <a:rPr lang="en-US" altLang="ko-KR"/>
              <a:t>git</a:t>
            </a:r>
            <a:r>
              <a:rPr lang="ko-KR" altLang="en-US"/>
              <a:t>과 </a:t>
            </a:r>
            <a:r>
              <a:rPr lang="en-US" altLang="ko-KR"/>
              <a:t>VSCode </a:t>
            </a:r>
            <a:r>
              <a:rPr lang="ko-KR" altLang="en-US"/>
              <a:t>연동하기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5. git</a:t>
            </a:r>
            <a:r>
              <a:rPr lang="ko-KR" altLang="en-US"/>
              <a:t>을 통해 협업하기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git</a:t>
            </a:r>
            <a:r>
              <a:rPr lang="ko-KR" altLang="en-US"/>
              <a:t>과 </a:t>
            </a:r>
            <a:r>
              <a:rPr lang="en-US" altLang="ko-KR"/>
              <a:t>Github</a:t>
            </a:r>
            <a:r>
              <a:rPr lang="ko-KR" altLang="en-US"/>
              <a:t>에 대하여</a:t>
            </a:r>
            <a:endParaRPr lang="ko-KR" altLang="en-US"/>
          </a:p>
        </p:txBody>
      </p:sp>
      <p:sp>
        <p:nvSpPr>
          <p:cNvPr id="4" name="직사각형 3"/>
          <p:cNvSpPr>
            <a:spLocks noGrp="1"/>
          </p:cNvSpPr>
          <p:nvPr>
            <p:ph idx="1"/>
          </p:nvPr>
        </p:nvSpPr>
        <p:spPr>
          <a:xfrm>
            <a:off x="609599" y="4819650"/>
            <a:ext cx="10972798" cy="1306512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altLang="ko-KR" sz="2400"/>
              <a:t>git</a:t>
            </a:r>
            <a:r>
              <a:rPr lang="ko-KR" altLang="en-US" sz="2400"/>
              <a:t>과 </a:t>
            </a:r>
            <a:r>
              <a:rPr lang="en-US" altLang="ko-KR" sz="2400"/>
              <a:t>Github</a:t>
            </a:r>
            <a:r>
              <a:rPr lang="ko-KR" altLang="en-US" sz="2400"/>
              <a:t>는 서로 다른 역할을 가지며 간단히 생각하면</a:t>
            </a:r>
            <a:endParaRPr lang="ko-KR" altLang="en-US" sz="2400"/>
          </a:p>
          <a:p>
            <a:pPr marL="0" lvl="0" indent="0">
              <a:buNone/>
              <a:defRPr/>
            </a:pPr>
            <a:r>
              <a:rPr lang="en-US" altLang="ko-KR" sz="2400"/>
              <a:t>Github</a:t>
            </a:r>
            <a:r>
              <a:rPr lang="ko-KR" altLang="en-US" sz="2400"/>
              <a:t>는 온라인 파일저장소 및 웹 호스팅 도구</a:t>
            </a:r>
            <a:endParaRPr lang="ko-KR" altLang="en-US" sz="2400"/>
          </a:p>
          <a:p>
            <a:pPr marL="0" lvl="0" indent="0">
              <a:buNone/>
              <a:defRPr/>
            </a:pPr>
            <a:r>
              <a:rPr lang="en-US" altLang="ko-KR" sz="2400"/>
              <a:t>git</a:t>
            </a:r>
            <a:r>
              <a:rPr lang="ko-KR" altLang="en-US" sz="2400"/>
              <a:t>은 오프라인에서 개발한 파일을 </a:t>
            </a:r>
            <a:r>
              <a:rPr lang="en-US" altLang="ko-KR" sz="2400"/>
              <a:t>Github</a:t>
            </a:r>
            <a:r>
              <a:rPr lang="ko-KR" altLang="en-US" sz="2400"/>
              <a:t>에 저장하기 위한 도구</a:t>
            </a:r>
            <a:endParaRPr lang="ko-KR" altLang="en-US" sz="24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72349" y="1417638"/>
            <a:ext cx="8247302" cy="34020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Github </a:t>
            </a:r>
            <a:r>
              <a:rPr lang="ko-KR" altLang="en-US"/>
              <a:t>기본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Repository(</a:t>
            </a:r>
            <a:r>
              <a:rPr lang="ko-KR" altLang="en-US"/>
              <a:t>이하 리포</a:t>
            </a:r>
            <a:r>
              <a:rPr lang="en-US" altLang="ko-KR"/>
              <a:t>)</a:t>
            </a:r>
            <a:r>
              <a:rPr lang="ko-KR" altLang="en-US"/>
              <a:t>에 대해서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marL="0" lvl="0" indent="0">
              <a:buNone/>
              <a:defRPr/>
            </a:pPr>
            <a:r>
              <a:rPr lang="ko-KR" altLang="en-US" sz="2400"/>
              <a:t>간단하게 생각하면 프로젝트 별로 저장할 수 있는 개별 저장소 느낌</a:t>
            </a:r>
            <a:endParaRPr lang="ko-KR" altLang="en-US" sz="2400"/>
          </a:p>
          <a:p>
            <a:pPr marL="0" lvl="0" indent="0">
              <a:buNone/>
              <a:defRPr/>
            </a:pPr>
            <a:r>
              <a:rPr lang="ko-KR" altLang="en-US" sz="2400"/>
              <a:t>진행중인 프로젝트의 진행상황을 볼 수 있음</a:t>
            </a:r>
            <a:endParaRPr lang="ko-KR" altLang="en-US" sz="2400"/>
          </a:p>
          <a:p>
            <a:pPr marL="0" lvl="0" indent="0">
              <a:buNone/>
              <a:defRPr/>
            </a:pPr>
            <a:endParaRPr lang="ko-KR" altLang="en-US" sz="2400"/>
          </a:p>
          <a:p>
            <a:pPr marL="0" lvl="0" indent="0">
              <a:buNone/>
              <a:defRPr/>
            </a:pPr>
            <a:endParaRPr lang="en-US" altLang="ko-KR" sz="2400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8350" r="16010" b="55390"/>
          <a:stretch>
            <a:fillRect/>
          </a:stretch>
        </p:blipFill>
        <p:spPr>
          <a:xfrm>
            <a:off x="0" y="0"/>
            <a:ext cx="12192000" cy="283453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1219910" y="962092"/>
            <a:ext cx="662020" cy="2769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9200071" y="1632084"/>
            <a:ext cx="1702338" cy="68904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새 리포 만들기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7" name="화살표 6"/>
          <p:cNvCxnSpPr/>
          <p:nvPr/>
        </p:nvCxnSpPr>
        <p:spPr>
          <a:xfrm flipV="1">
            <a:off x="10801080" y="1239060"/>
            <a:ext cx="493137" cy="393024"/>
          </a:xfrm>
          <a:prstGeom prst="straightConnector1">
            <a:avLst/>
          </a:prstGeom>
          <a:ln>
            <a:solidFill>
              <a:srgbClr val="ff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모서리가 둥근 직사각형 7"/>
          <p:cNvSpPr/>
          <p:nvPr/>
        </p:nvSpPr>
        <p:spPr>
          <a:xfrm>
            <a:off x="877516" y="456659"/>
            <a:ext cx="1161915" cy="344521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78951" y="1638839"/>
            <a:ext cx="2114414" cy="682287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리포 보기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0" name="화살표 9"/>
          <p:cNvCxnSpPr>
            <a:stCxn id="9" idx="0"/>
            <a:endCxn id="8" idx="2"/>
          </p:cNvCxnSpPr>
          <p:nvPr/>
        </p:nvCxnSpPr>
        <p:spPr>
          <a:xfrm rot="16200000" flipV="1">
            <a:off x="1078486" y="1181167"/>
            <a:ext cx="837659" cy="77685"/>
          </a:xfrm>
          <a:prstGeom prst="straightConnector1">
            <a:avLst/>
          </a:prstGeom>
          <a:ln>
            <a:solidFill>
              <a:srgbClr val="ff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/>
          <p:cNvSpPr/>
          <p:nvPr/>
        </p:nvSpPr>
        <p:spPr>
          <a:xfrm>
            <a:off x="4971239" y="1537510"/>
            <a:ext cx="2465691" cy="783616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971239" y="95857"/>
            <a:ext cx="1736116" cy="7216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리포 목록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4" name="화살표 13"/>
          <p:cNvCxnSpPr>
            <a:stCxn id="13" idx="2"/>
            <a:endCxn id="12" idx="0"/>
          </p:cNvCxnSpPr>
          <p:nvPr/>
        </p:nvCxnSpPr>
        <p:spPr>
          <a:xfrm rot="16200000" flipH="1">
            <a:off x="5661675" y="995101"/>
            <a:ext cx="720050" cy="364769"/>
          </a:xfrm>
          <a:prstGeom prst="straightConnector1">
            <a:avLst/>
          </a:prstGeom>
          <a:ln>
            <a:solidFill>
              <a:schemeClr val="l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가로 글상자 14"/>
          <p:cNvSpPr txBox="1"/>
          <p:nvPr/>
        </p:nvSpPr>
        <p:spPr>
          <a:xfrm>
            <a:off x="4622349" y="2834531"/>
            <a:ext cx="2798702" cy="36004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github</a:t>
            </a:r>
            <a:r>
              <a:rPr lang="ko-KR" altLang="en-US"/>
              <a:t>의 유저 프로필 화면</a:t>
            </a:r>
            <a:endParaRPr lang="ko-KR" altLang="en-US"/>
          </a:p>
        </p:txBody>
      </p:sp>
      <p:sp>
        <p:nvSpPr>
          <p:cNvPr id="16" name="가로 글상자 15"/>
          <p:cNvSpPr txBox="1"/>
          <p:nvPr/>
        </p:nvSpPr>
        <p:spPr>
          <a:xfrm>
            <a:off x="922417" y="3617743"/>
            <a:ext cx="10347165" cy="81900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400"/>
              <a:t>유저 프로필 화면에서 자신의 리포를 확인하거나 새로운 리포를 만들 수 있다</a:t>
            </a:r>
            <a:r>
              <a:rPr lang="en-US" altLang="ko-KR" sz="2400"/>
              <a:t>.</a:t>
            </a:r>
            <a:endParaRPr lang="en-US" altLang="ko-KR" sz="2400"/>
          </a:p>
          <a:p>
            <a:pPr lvl="0">
              <a:defRPr/>
            </a:pPr>
            <a:r>
              <a:rPr lang="ko-KR" altLang="en-US" sz="2400"/>
              <a:t>리포를 직접 만들면 그 리포의 관리자가 된다</a:t>
            </a:r>
            <a:r>
              <a:rPr lang="en-US" altLang="ko-KR" sz="2400"/>
              <a:t>.</a:t>
            </a:r>
            <a:endParaRPr lang="en-US" altLang="ko-KR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33060"/>
          <a:stretch>
            <a:fillRect/>
          </a:stretch>
        </p:blipFill>
        <p:spPr>
          <a:xfrm>
            <a:off x="0" y="0"/>
            <a:ext cx="12192000" cy="6181571"/>
          </a:xfrm>
          <a:prstGeom prst="rect">
            <a:avLst/>
          </a:prstGeom>
        </p:spPr>
      </p:pic>
      <p:sp>
        <p:nvSpPr>
          <p:cNvPr id="6" name="가로 글상자 5"/>
          <p:cNvSpPr txBox="1">
            <a:spLocks noChangeAspect="1"/>
          </p:cNvSpPr>
          <p:nvPr/>
        </p:nvSpPr>
        <p:spPr>
          <a:xfrm>
            <a:off x="81064" y="6181571"/>
            <a:ext cx="10193707" cy="54818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50000"/>
              </a:lnSpc>
              <a:defRPr/>
            </a:pPr>
            <a:r>
              <a:rPr lang="ko-KR" altLang="en-US" sz="2000"/>
              <a:t>리포의 관리자만이 </a:t>
            </a:r>
            <a:r>
              <a:rPr lang="en-US" altLang="ko-KR" sz="2000"/>
              <a:t>Add file</a:t>
            </a:r>
            <a:r>
              <a:rPr lang="ko-KR" altLang="en-US" sz="2000"/>
              <a:t>을 통해 직접적으로 컴퓨터</a:t>
            </a:r>
            <a:r>
              <a:rPr lang="en-US" altLang="ko-KR" sz="2000"/>
              <a:t>(local)</a:t>
            </a:r>
            <a:r>
              <a:rPr lang="ko-KR" altLang="en-US" sz="2000"/>
              <a:t>의 파일을 추가할 수 있다</a:t>
            </a:r>
            <a:r>
              <a:rPr lang="en-US" altLang="ko-KR" sz="2000"/>
              <a:t>.</a:t>
            </a:r>
            <a:endParaRPr lang="en-US" altLang="ko-KR" sz="2000"/>
          </a:p>
        </p:txBody>
      </p:sp>
      <p:sp>
        <p:nvSpPr>
          <p:cNvPr id="7" name="모서리가 둥근 직사각형 6"/>
          <p:cNvSpPr/>
          <p:nvPr/>
        </p:nvSpPr>
        <p:spPr>
          <a:xfrm>
            <a:off x="81064" y="2334638"/>
            <a:ext cx="11991842" cy="3774184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9213580" y="1019343"/>
            <a:ext cx="1364574" cy="511411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417945" y="238784"/>
            <a:ext cx="2236010" cy="54934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리포 내부 파일 목록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10" name="화살표 9"/>
          <p:cNvCxnSpPr>
            <a:stCxn id="9" idx="2"/>
            <a:endCxn id="7" idx="0"/>
          </p:cNvCxnSpPr>
          <p:nvPr/>
        </p:nvCxnSpPr>
        <p:spPr>
          <a:xfrm rot="16200000" flipH="1">
            <a:off x="5033212" y="1290864"/>
            <a:ext cx="1546512" cy="541035"/>
          </a:xfrm>
          <a:prstGeom prst="straightConnector1">
            <a:avLst/>
          </a:prstGeom>
          <a:noFill/>
          <a:ln w="12700" cap="flat" cmpd="sng" algn="ctr">
            <a:solidFill>
              <a:srgbClr val="ffffff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11" name="직사각형 10"/>
          <p:cNvSpPr/>
          <p:nvPr/>
        </p:nvSpPr>
        <p:spPr>
          <a:xfrm>
            <a:off x="7578790" y="179828"/>
            <a:ext cx="1351064" cy="37708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추가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12" name="화살표 11"/>
          <p:cNvCxnSpPr>
            <a:stCxn id="11" idx="2"/>
            <a:endCxn id="8" idx="0"/>
          </p:cNvCxnSpPr>
          <p:nvPr/>
        </p:nvCxnSpPr>
        <p:spPr>
          <a:xfrm>
            <a:off x="8254322" y="556908"/>
            <a:ext cx="1641542" cy="462435"/>
          </a:xfrm>
          <a:prstGeom prst="straightConnector1">
            <a:avLst/>
          </a:prstGeom>
          <a:noFill/>
          <a:ln w="12700" cap="flat" cmpd="sng" algn="ctr">
            <a:solidFill>
              <a:srgbClr val="ffffff">
                <a:alpha val="100000"/>
              </a:srgbClr>
            </a:solidFill>
            <a:prstDash val="solid"/>
            <a:tailEnd type="arrow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</a:t>
            </a:r>
            <a:r>
              <a:rPr lang="en-US" altLang="ko-KR"/>
              <a:t>git</a:t>
            </a:r>
            <a:r>
              <a:rPr lang="ko-KR" altLang="en-US"/>
              <a:t>의 기본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vert="horz"/>
          <a:lstStyle/>
          <a:p>
            <a:pPr lvl="0">
              <a:defRPr/>
            </a:pPr>
            <a:r>
              <a:rPr lang="en-US" altLang="ko-KR"/>
              <a:t>github</a:t>
            </a:r>
            <a:r>
              <a:rPr lang="ko-KR" altLang="en-US"/>
              <a:t>의 저장소와 연결해서 리포의 파일을 업데이트 함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branch</a:t>
            </a:r>
            <a:r>
              <a:rPr lang="ko-KR" altLang="en-US"/>
              <a:t>라 불리는 개별 작업공간을 만들 수 있음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수정하고 되돌리기도 용이함</a:t>
            </a:r>
            <a:endParaRPr lang="ko-KR" altLang="en-US"/>
          </a:p>
          <a:p>
            <a:pPr marL="342900" lvl="0" indent="-342900">
              <a:defRPr/>
            </a:pPr>
            <a:r>
              <a:rPr lang="ko-KR" altLang="en-US"/>
              <a:t>사용하려면 </a:t>
            </a:r>
            <a:r>
              <a:rPr lang="en-US" altLang="ko-KR"/>
              <a:t>git</a:t>
            </a:r>
            <a:r>
              <a:rPr lang="ko-KR" altLang="en-US"/>
              <a:t>을 깔아야 함</a:t>
            </a:r>
            <a:endParaRPr lang="ko-KR" altLang="en-US"/>
          </a:p>
          <a:p>
            <a:pPr marL="342900" lvl="0" indent="-342900">
              <a:defRPr/>
            </a:pPr>
            <a:r>
              <a:rPr lang="en-US" altLang="ko-KR"/>
              <a:t>git</a:t>
            </a:r>
            <a:r>
              <a:rPr lang="ko-KR" altLang="en-US"/>
              <a:t> 명령어를 사용하며 </a:t>
            </a:r>
            <a:r>
              <a:rPr lang="en-US" altLang="ko-KR"/>
              <a:t>VSCode</a:t>
            </a:r>
            <a:r>
              <a:rPr lang="ko-KR" altLang="en-US"/>
              <a:t>에서 </a:t>
            </a:r>
            <a:r>
              <a:rPr lang="en-US" altLang="ko-KR"/>
              <a:t>GUI</a:t>
            </a:r>
            <a:r>
              <a:rPr lang="ko-KR" altLang="en-US"/>
              <a:t>를 지원함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git</a:t>
            </a:r>
            <a:r>
              <a:rPr lang="ko-KR" altLang="en-US"/>
              <a:t>의 기본 명령어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419225"/>
            <a:ext cx="10972798" cy="5106921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/>
              <a:t>git add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변화된 코드를 </a:t>
            </a:r>
            <a:r>
              <a:rPr lang="en-US" altLang="ko-KR"/>
              <a:t>staging</a:t>
            </a:r>
            <a:r>
              <a:rPr lang="ko-KR" altLang="en-US"/>
              <a:t>함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git commit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stage</a:t>
            </a:r>
            <a:r>
              <a:rPr lang="ko-KR" altLang="en-US"/>
              <a:t>에 있는 코드들을 기록함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git push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기록된 </a:t>
            </a:r>
            <a:r>
              <a:rPr lang="en-US" altLang="ko-KR"/>
              <a:t>commit</a:t>
            </a:r>
            <a:r>
              <a:rPr lang="ko-KR" altLang="en-US"/>
              <a:t>을 리포에 업데이트함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git pull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작업폴더의 파일들을 리포에 있는 파일들로 업데이트함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git merge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기존의 리포에 변화된 파일을 합친다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1" y="166552"/>
            <a:ext cx="10972798" cy="83901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시각적 설명</a:t>
            </a:r>
            <a:endParaRPr lang="ko-KR" altLang="en-US"/>
          </a:p>
        </p:txBody>
      </p:sp>
      <p:grpSp>
        <p:nvGrpSpPr>
          <p:cNvPr id="6" name=""/>
          <p:cNvGrpSpPr/>
          <p:nvPr/>
        </p:nvGrpSpPr>
        <p:grpSpPr>
          <a:xfrm rot="0">
            <a:off x="6021232" y="1080834"/>
            <a:ext cx="2367739" cy="2471555"/>
            <a:chOff x="4572675" y="1591553"/>
            <a:chExt cx="2060372" cy="2526489"/>
          </a:xfrm>
        </p:grpSpPr>
        <p:sp>
          <p:nvSpPr>
            <p:cNvPr id="4" name="직사각형 3"/>
            <p:cNvSpPr/>
            <p:nvPr/>
          </p:nvSpPr>
          <p:spPr>
            <a:xfrm>
              <a:off x="4572675" y="2057669"/>
              <a:ext cx="2060372" cy="2060372"/>
            </a:xfrm>
            <a:prstGeom prst="rect">
              <a:avLst/>
            </a:prstGeom>
            <a:noFill/>
            <a:ln>
              <a:solidFill>
                <a:schemeClr val="dk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4572675" y="1591553"/>
              <a:ext cx="2060372" cy="466116"/>
            </a:xfrm>
            <a:prstGeom prst="rect">
              <a:avLst/>
            </a:prstGeom>
            <a:noFill/>
            <a:ln>
              <a:solidFill>
                <a:schemeClr val="dk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stage</a:t>
              </a:r>
              <a:endParaRPr lang="en-US" altLang="ko-KR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 rot="0">
            <a:off x="3065793" y="1080834"/>
            <a:ext cx="2178590" cy="2471555"/>
            <a:chOff x="4572675" y="1591553"/>
            <a:chExt cx="2060372" cy="2526489"/>
          </a:xfrm>
        </p:grpSpPr>
        <p:sp>
          <p:nvSpPr>
            <p:cNvPr id="8" name="직사각형 3"/>
            <p:cNvSpPr/>
            <p:nvPr/>
          </p:nvSpPr>
          <p:spPr>
            <a:xfrm>
              <a:off x="4572675" y="2057669"/>
              <a:ext cx="2060372" cy="2060372"/>
            </a:xfrm>
            <a:prstGeom prst="rect">
              <a:avLst/>
            </a:prstGeom>
            <a:noFill/>
            <a:ln w="19050" cap="flat" cmpd="sng" algn="ctr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ctr"/>
            <a:p>
              <a:pPr marL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endParaRPr>
            </a:p>
          </p:txBody>
        </p:sp>
        <p:sp>
          <p:nvSpPr>
            <p:cNvPr id="9" name="직사각형 4"/>
            <p:cNvSpPr/>
            <p:nvPr/>
          </p:nvSpPr>
          <p:spPr>
            <a:xfrm>
              <a:off x="4572675" y="1591553"/>
              <a:ext cx="2060372" cy="466116"/>
            </a:xfrm>
            <a:prstGeom prst="rect">
              <a:avLst/>
            </a:prstGeom>
            <a:noFill/>
            <a:ln w="19050" cap="flat" cmpd="sng" algn="ctr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ctr"/>
            <a:p>
              <a:pPr marL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Calibri"/>
                  <a:ea typeface="맑은 고딕"/>
                  <a:cs typeface="Calibri"/>
                </a:rPr>
                <a:t>작업파일</a:t>
              </a: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 rot="0">
            <a:off x="9623718" y="1080834"/>
            <a:ext cx="2293432" cy="2471555"/>
            <a:chOff x="4572675" y="1591553"/>
            <a:chExt cx="2060372" cy="2526489"/>
          </a:xfrm>
        </p:grpSpPr>
        <p:sp>
          <p:nvSpPr>
            <p:cNvPr id="11" name="직사각형 3"/>
            <p:cNvSpPr/>
            <p:nvPr/>
          </p:nvSpPr>
          <p:spPr>
            <a:xfrm>
              <a:off x="4572675" y="2057669"/>
              <a:ext cx="2060372" cy="2060372"/>
            </a:xfrm>
            <a:prstGeom prst="rect">
              <a:avLst/>
            </a:prstGeom>
            <a:noFill/>
            <a:ln w="19050" cap="flat" cmpd="sng" algn="ctr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ctr"/>
            <a:p>
              <a:pPr marL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endParaRPr>
            </a:p>
          </p:txBody>
        </p:sp>
        <p:sp>
          <p:nvSpPr>
            <p:cNvPr id="12" name="직사각형 4"/>
            <p:cNvSpPr/>
            <p:nvPr/>
          </p:nvSpPr>
          <p:spPr>
            <a:xfrm>
              <a:off x="4572675" y="1591553"/>
              <a:ext cx="2060372" cy="466116"/>
            </a:xfrm>
            <a:prstGeom prst="rect">
              <a:avLst/>
            </a:prstGeom>
            <a:noFill/>
            <a:ln w="19050" cap="flat" cmpd="sng" algn="ctr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ctr"/>
            <a:p>
              <a:pPr marL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Calibri"/>
                  <a:ea typeface="맑은 고딕"/>
                  <a:cs typeface="Calibri"/>
                </a:rPr>
                <a:t>수정된 리포</a:t>
              </a: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endParaRPr>
            </a:p>
          </p:txBody>
        </p:sp>
      </p:grpSp>
      <p:cxnSp>
        <p:nvCxnSpPr>
          <p:cNvPr id="13" name="화살표 12"/>
          <p:cNvCxnSpPr>
            <a:stCxn id="8" idx="3"/>
            <a:endCxn id="4" idx="1"/>
          </p:cNvCxnSpPr>
          <p:nvPr/>
        </p:nvCxnSpPr>
        <p:spPr>
          <a:xfrm>
            <a:off x="5244384" y="2544603"/>
            <a:ext cx="776849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화살표 13"/>
          <p:cNvCxnSpPr>
            <a:stCxn id="4" idx="2"/>
            <a:endCxn id="42" idx="0"/>
          </p:cNvCxnSpPr>
          <p:nvPr/>
        </p:nvCxnSpPr>
        <p:spPr>
          <a:xfrm rot="16200000" flipH="1" flipV="1">
            <a:off x="6845224" y="3912267"/>
            <a:ext cx="719755" cy="0"/>
          </a:xfrm>
          <a:prstGeom prst="straightConnector1">
            <a:avLst/>
          </a:prstGeom>
          <a:noFill/>
          <a:ln w="12700" cap="flat" cmpd="sng" algn="ctr">
            <a:solidFill>
              <a:srgbClr val="ff0000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15" name="가로 글상자 14"/>
          <p:cNvSpPr txBox="1"/>
          <p:nvPr/>
        </p:nvSpPr>
        <p:spPr>
          <a:xfrm>
            <a:off x="3204872" y="1583917"/>
            <a:ext cx="843578" cy="360653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파일 </a:t>
            </a:r>
            <a:r>
              <a:rPr lang="en-US" altLang="ko-KR"/>
              <a:t>1</a:t>
            </a:r>
            <a:endParaRPr lang="en-US" altLang="ko-KR"/>
          </a:p>
        </p:txBody>
      </p:sp>
      <p:sp>
        <p:nvSpPr>
          <p:cNvPr id="16" name="가로 글상자 15"/>
          <p:cNvSpPr txBox="1"/>
          <p:nvPr/>
        </p:nvSpPr>
        <p:spPr>
          <a:xfrm>
            <a:off x="3204872" y="1944570"/>
            <a:ext cx="1967528" cy="36065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수정됨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M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가로 글상자 16"/>
          <p:cNvSpPr txBox="1"/>
          <p:nvPr/>
        </p:nvSpPr>
        <p:spPr>
          <a:xfrm>
            <a:off x="3204872" y="2284051"/>
            <a:ext cx="843578" cy="362816"/>
          </a:xfrm>
          <a:prstGeom prst="rect">
            <a:avLst/>
          </a:prstGeom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8" name="가로 글상자 17"/>
          <p:cNvSpPr txBox="1"/>
          <p:nvPr/>
        </p:nvSpPr>
        <p:spPr>
          <a:xfrm>
            <a:off x="3204872" y="2646867"/>
            <a:ext cx="843578" cy="360653"/>
          </a:xfrm>
          <a:prstGeom prst="rect">
            <a:avLst/>
          </a:prstGeom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9" name="가로 글상자 18"/>
          <p:cNvSpPr txBox="1"/>
          <p:nvPr/>
        </p:nvSpPr>
        <p:spPr>
          <a:xfrm>
            <a:off x="3204871" y="3007521"/>
            <a:ext cx="1900435" cy="363246"/>
          </a:xfrm>
          <a:prstGeom prst="rect">
            <a:avLst/>
          </a:prstGeom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5 (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생성됨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A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0" name="가로 글상자 19"/>
          <p:cNvSpPr txBox="1"/>
          <p:nvPr/>
        </p:nvSpPr>
        <p:spPr>
          <a:xfrm>
            <a:off x="6254885" y="1637458"/>
            <a:ext cx="1967528" cy="36065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수정됨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M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가로 글상자 20"/>
          <p:cNvSpPr txBox="1"/>
          <p:nvPr/>
        </p:nvSpPr>
        <p:spPr>
          <a:xfrm>
            <a:off x="6254884" y="1996814"/>
            <a:ext cx="1900435" cy="363246"/>
          </a:xfrm>
          <a:prstGeom prst="rect">
            <a:avLst/>
          </a:prstGeom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5 (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생성됨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A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2" name="가로 글상자 21"/>
          <p:cNvSpPr txBox="1"/>
          <p:nvPr/>
        </p:nvSpPr>
        <p:spPr>
          <a:xfrm>
            <a:off x="5244384" y="2180362"/>
            <a:ext cx="851616" cy="359397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git add</a:t>
            </a:r>
            <a:endParaRPr lang="en-US" altLang="ko-KR"/>
          </a:p>
        </p:txBody>
      </p:sp>
      <p:sp>
        <p:nvSpPr>
          <p:cNvPr id="23" name="가로 글상자 22"/>
          <p:cNvSpPr txBox="1"/>
          <p:nvPr/>
        </p:nvSpPr>
        <p:spPr>
          <a:xfrm>
            <a:off x="6595414" y="3697409"/>
            <a:ext cx="1219375" cy="360045"/>
          </a:xfrm>
          <a:prstGeom prst="rect">
            <a:avLst/>
          </a:prstGeom>
          <a:solidFill>
            <a:schemeClr val="lt1"/>
          </a:solidFill>
          <a:ln w="19050">
            <a:solidFill>
              <a:schemeClr val="dk1"/>
            </a:solidFill>
          </a:ln>
        </p:spPr>
        <p:txBody>
          <a:bodyPr wrap="square">
            <a:spAutoFit/>
          </a:bodyPr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git commit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grpSp>
        <p:nvGrpSpPr>
          <p:cNvPr id="24" name="그룹 23"/>
          <p:cNvGrpSpPr/>
          <p:nvPr/>
        </p:nvGrpSpPr>
        <p:grpSpPr>
          <a:xfrm rot="0">
            <a:off x="197077" y="1080834"/>
            <a:ext cx="2293432" cy="2471555"/>
            <a:chOff x="4572675" y="1591553"/>
            <a:chExt cx="2060372" cy="2526489"/>
          </a:xfrm>
        </p:grpSpPr>
        <p:sp>
          <p:nvSpPr>
            <p:cNvPr id="25" name="직사각형 3"/>
            <p:cNvSpPr/>
            <p:nvPr/>
          </p:nvSpPr>
          <p:spPr>
            <a:xfrm>
              <a:off x="4572675" y="2057669"/>
              <a:ext cx="2060372" cy="2060372"/>
            </a:xfrm>
            <a:prstGeom prst="rect">
              <a:avLst/>
            </a:prstGeom>
            <a:noFill/>
            <a:ln w="19050" cap="flat" cmpd="sng" algn="ctr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ctr"/>
            <a:p>
              <a:pPr marL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endParaRPr>
            </a:p>
          </p:txBody>
        </p:sp>
        <p:sp>
          <p:nvSpPr>
            <p:cNvPr id="26" name="직사각형 4"/>
            <p:cNvSpPr/>
            <p:nvPr/>
          </p:nvSpPr>
          <p:spPr>
            <a:xfrm>
              <a:off x="4572675" y="1591553"/>
              <a:ext cx="2060372" cy="466116"/>
            </a:xfrm>
            <a:prstGeom prst="rect">
              <a:avLst/>
            </a:prstGeom>
            <a:noFill/>
            <a:ln w="19050" cap="flat" cmpd="sng" algn="ctr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ctr"/>
            <a:p>
              <a:pPr marL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Calibri"/>
                  <a:ea typeface="맑은 고딕"/>
                  <a:cs typeface="Calibri"/>
                </a:rPr>
                <a:t>기존 리포</a:t>
              </a: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endParaRPr>
            </a:p>
          </p:txBody>
        </p:sp>
      </p:grpSp>
      <p:sp>
        <p:nvSpPr>
          <p:cNvPr id="27" name="가로 글상자 26"/>
          <p:cNvSpPr txBox="1"/>
          <p:nvPr/>
        </p:nvSpPr>
        <p:spPr>
          <a:xfrm>
            <a:off x="360029" y="1663061"/>
            <a:ext cx="843578" cy="360653"/>
          </a:xfrm>
          <a:prstGeom prst="rect">
            <a:avLst/>
          </a:prstGeom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8" name="가로 글상자 27"/>
          <p:cNvSpPr txBox="1"/>
          <p:nvPr/>
        </p:nvSpPr>
        <p:spPr>
          <a:xfrm>
            <a:off x="360029" y="2023713"/>
            <a:ext cx="1967528" cy="36151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2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가로 글상자 28"/>
          <p:cNvSpPr txBox="1"/>
          <p:nvPr/>
        </p:nvSpPr>
        <p:spPr>
          <a:xfrm>
            <a:off x="360029" y="2363195"/>
            <a:ext cx="843578" cy="362816"/>
          </a:xfrm>
          <a:prstGeom prst="rect">
            <a:avLst/>
          </a:prstGeom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0" name="가로 글상자 29"/>
          <p:cNvSpPr txBox="1"/>
          <p:nvPr/>
        </p:nvSpPr>
        <p:spPr>
          <a:xfrm>
            <a:off x="360029" y="2726011"/>
            <a:ext cx="843578" cy="360653"/>
          </a:xfrm>
          <a:prstGeom prst="rect">
            <a:avLst/>
          </a:prstGeom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1" name="가로 글상자 30"/>
          <p:cNvSpPr txBox="1"/>
          <p:nvPr/>
        </p:nvSpPr>
        <p:spPr>
          <a:xfrm>
            <a:off x="9786670" y="1616477"/>
            <a:ext cx="843578" cy="360653"/>
          </a:xfrm>
          <a:prstGeom prst="rect">
            <a:avLst/>
          </a:prstGeom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2" name="가로 글상자 31"/>
          <p:cNvSpPr txBox="1"/>
          <p:nvPr/>
        </p:nvSpPr>
        <p:spPr>
          <a:xfrm>
            <a:off x="9786670" y="1977130"/>
            <a:ext cx="1967528" cy="36065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2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3" name="가로 글상자 32"/>
          <p:cNvSpPr txBox="1"/>
          <p:nvPr/>
        </p:nvSpPr>
        <p:spPr>
          <a:xfrm>
            <a:off x="9786670" y="2316612"/>
            <a:ext cx="843578" cy="362816"/>
          </a:xfrm>
          <a:prstGeom prst="rect">
            <a:avLst/>
          </a:prstGeom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4" name="가로 글상자 33"/>
          <p:cNvSpPr txBox="1"/>
          <p:nvPr/>
        </p:nvSpPr>
        <p:spPr>
          <a:xfrm>
            <a:off x="9786670" y="2679428"/>
            <a:ext cx="843578" cy="360653"/>
          </a:xfrm>
          <a:prstGeom prst="rect">
            <a:avLst/>
          </a:prstGeom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" name="가로 글상자 34"/>
          <p:cNvSpPr txBox="1"/>
          <p:nvPr/>
        </p:nvSpPr>
        <p:spPr>
          <a:xfrm>
            <a:off x="9786668" y="3040080"/>
            <a:ext cx="840800" cy="363246"/>
          </a:xfrm>
          <a:prstGeom prst="rect">
            <a:avLst/>
          </a:prstGeom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5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39" name="구부러진 연결선 38"/>
          <p:cNvCxnSpPr>
            <a:stCxn id="8" idx="2"/>
          </p:cNvCxnSpPr>
          <p:nvPr/>
        </p:nvCxnSpPr>
        <p:spPr>
          <a:xfrm rot="5400000" flipH="1" flipV="1">
            <a:off x="4593189" y="2124340"/>
            <a:ext cx="989941" cy="1866145"/>
          </a:xfrm>
          <a:prstGeom prst="curvedConnector4">
            <a:avLst>
              <a:gd name="adj1" fmla="val -39089"/>
              <a:gd name="adj2" fmla="val 78671"/>
            </a:avLst>
          </a:prstGeom>
          <a:ln>
            <a:solidFill>
              <a:srgbClr val="ffd7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4398280" y="3767080"/>
            <a:ext cx="1055747" cy="290374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staging</a:t>
            </a:r>
            <a:endParaRPr lang="en-US" altLang="ko-KR">
              <a:solidFill>
                <a:schemeClr val="tx1"/>
              </a:solidFill>
            </a:endParaRPr>
          </a:p>
        </p:txBody>
      </p:sp>
      <p:grpSp>
        <p:nvGrpSpPr>
          <p:cNvPr id="40" name="그룹 39"/>
          <p:cNvGrpSpPr/>
          <p:nvPr/>
        </p:nvGrpSpPr>
        <p:grpSpPr>
          <a:xfrm rot="0">
            <a:off x="6021232" y="4272145"/>
            <a:ext cx="2367739" cy="2471555"/>
            <a:chOff x="4572675" y="1591553"/>
            <a:chExt cx="2060372" cy="2526489"/>
          </a:xfrm>
        </p:grpSpPr>
        <p:sp>
          <p:nvSpPr>
            <p:cNvPr id="41" name="직사각형 3"/>
            <p:cNvSpPr/>
            <p:nvPr/>
          </p:nvSpPr>
          <p:spPr>
            <a:xfrm>
              <a:off x="4572675" y="2057669"/>
              <a:ext cx="2060372" cy="2060372"/>
            </a:xfrm>
            <a:prstGeom prst="rect">
              <a:avLst/>
            </a:prstGeom>
            <a:noFill/>
            <a:ln w="19050" cap="flat" cmpd="sng" algn="ctr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ctr"/>
            <a:p>
              <a:pPr marL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endParaRPr>
            </a:p>
          </p:txBody>
        </p:sp>
        <p:sp>
          <p:nvSpPr>
            <p:cNvPr id="42" name="직사각형 4"/>
            <p:cNvSpPr/>
            <p:nvPr/>
          </p:nvSpPr>
          <p:spPr>
            <a:xfrm>
              <a:off x="4572675" y="1591553"/>
              <a:ext cx="2060372" cy="466116"/>
            </a:xfrm>
            <a:prstGeom prst="rect">
              <a:avLst/>
            </a:prstGeom>
            <a:noFill/>
            <a:ln w="19050" cap="flat" cmpd="sng" algn="ctr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ctr"/>
            <a:p>
              <a:pPr marL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Calibri"/>
                  <a:ea typeface="맑은 고딕"/>
                  <a:cs typeface="Calibri"/>
                </a:rPr>
                <a:t>commit</a:t>
              </a:r>
  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endParaRPr>
            </a:p>
          </p:txBody>
        </p:sp>
      </p:grpSp>
      <p:sp>
        <p:nvSpPr>
          <p:cNvPr id="43" name="가로 글상자 42"/>
          <p:cNvSpPr txBox="1"/>
          <p:nvPr/>
        </p:nvSpPr>
        <p:spPr>
          <a:xfrm>
            <a:off x="6096001" y="4890549"/>
            <a:ext cx="1967528" cy="36065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수정됨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M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4" name="가로 글상자 43"/>
          <p:cNvSpPr txBox="1"/>
          <p:nvPr/>
        </p:nvSpPr>
        <p:spPr>
          <a:xfrm>
            <a:off x="6096000" y="5249906"/>
            <a:ext cx="1900435" cy="363246"/>
          </a:xfrm>
          <a:prstGeom prst="rect">
            <a:avLst/>
          </a:prstGeom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5 (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생성됨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A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45" name="화살표 44"/>
          <p:cNvCxnSpPr>
            <a:stCxn id="41" idx="3"/>
            <a:endCxn id="11" idx="1"/>
          </p:cNvCxnSpPr>
          <p:nvPr/>
        </p:nvCxnSpPr>
        <p:spPr>
          <a:xfrm rot="5400000" flipH="1" flipV="1">
            <a:off x="7410691" y="3522885"/>
            <a:ext cx="3191309" cy="123474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가로 글상자 45"/>
          <p:cNvSpPr txBox="1"/>
          <p:nvPr/>
        </p:nvSpPr>
        <p:spPr>
          <a:xfrm>
            <a:off x="8567292" y="3912099"/>
            <a:ext cx="1056425" cy="36272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000000">
                <a:alpha val="100000"/>
              </a:srgbClr>
            </a:solidFill>
          </a:ln>
        </p:spPr>
        <p:txBody>
          <a:bodyPr wrap="square">
            <a:spAutoFit/>
          </a:bodyPr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git push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288045" y="5070875"/>
            <a:ext cx="4800115" cy="150333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git push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후 리포를 수정하려면 리포의 관리자가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merge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를 할지말지 정하고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merge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를 한다면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commit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에 따라 리포가 수정된다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85900" y="1066800"/>
            <a:ext cx="9220200" cy="472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</a:t>
            </a:r>
            <a:r>
              <a:rPr lang="en-US" altLang="ko-KR"/>
              <a:t>git</a:t>
            </a:r>
            <a:r>
              <a:rPr lang="ko-KR" altLang="en-US"/>
              <a:t>과 </a:t>
            </a:r>
            <a:r>
              <a:rPr lang="en-US" altLang="ko-KR"/>
              <a:t>VSCode</a:t>
            </a:r>
            <a:r>
              <a:rPr lang="ko-KR" altLang="en-US"/>
              <a:t> 연동하기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Github</a:t>
            </a:r>
            <a:r>
              <a:rPr lang="ko-KR" altLang="en-US"/>
              <a:t>의 리포에 올릴 파일을 </a:t>
            </a:r>
            <a:r>
              <a:rPr lang="en-US" altLang="ko-KR"/>
              <a:t>VSCode</a:t>
            </a:r>
            <a:r>
              <a:rPr lang="ko-KR" altLang="en-US"/>
              <a:t>에서 작성하고 </a:t>
            </a:r>
            <a:r>
              <a:rPr lang="en-US" altLang="ko-KR"/>
              <a:t>git</a:t>
            </a:r>
            <a:r>
              <a:rPr lang="ko-KR" altLang="en-US"/>
              <a:t>을 이용하여 </a:t>
            </a:r>
            <a:r>
              <a:rPr lang="en-US" altLang="ko-KR"/>
              <a:t>Github</a:t>
            </a:r>
            <a:r>
              <a:rPr lang="ko-KR" altLang="en-US"/>
              <a:t>에 바로 업데이트 할 수 있음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VSCode</a:t>
            </a:r>
            <a:r>
              <a:rPr lang="ko-KR" altLang="en-US"/>
              <a:t>가 </a:t>
            </a:r>
            <a:r>
              <a:rPr lang="en-US" altLang="ko-KR"/>
              <a:t>git</a:t>
            </a:r>
            <a:r>
              <a:rPr lang="ko-KR" altLang="en-US"/>
              <a:t>을 </a:t>
            </a:r>
            <a:r>
              <a:rPr lang="en-US" altLang="ko-KR"/>
              <a:t>GUI</a:t>
            </a:r>
            <a:r>
              <a:rPr lang="ko-KR" altLang="en-US"/>
              <a:t>로 지원해줘서 명령어를 몰라도 편하게 쓸 수 있게 해줌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rcRect b="15480"/>
          <a:stretch>
            <a:fillRect/>
          </a:stretch>
        </p:blipFill>
        <p:spPr>
          <a:xfrm>
            <a:off x="0" y="0"/>
            <a:ext cx="12205489" cy="6858000"/>
          </a:xfrm>
          <a:prstGeom prst="rect">
            <a:avLst/>
          </a:prstGeom>
        </p:spPr>
      </p:pic>
      <p:sp>
        <p:nvSpPr>
          <p:cNvPr id="5" name="모서리가 둥근 직사각형 4"/>
          <p:cNvSpPr/>
          <p:nvPr/>
        </p:nvSpPr>
        <p:spPr>
          <a:xfrm>
            <a:off x="59919" y="1390447"/>
            <a:ext cx="344521" cy="344521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4373799" y="3808649"/>
            <a:ext cx="1722201" cy="344521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631352" y="1900879"/>
            <a:ext cx="2843989" cy="344521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330112" y="3873263"/>
            <a:ext cx="1736116" cy="721603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리포 불러오기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9" name="화살표 8"/>
          <p:cNvCxnSpPr>
            <a:stCxn id="8" idx="3"/>
            <a:endCxn id="6" idx="1"/>
          </p:cNvCxnSpPr>
          <p:nvPr/>
        </p:nvCxnSpPr>
        <p:spPr>
          <a:xfrm flipV="1">
            <a:off x="3066229" y="3980909"/>
            <a:ext cx="1307570" cy="253155"/>
          </a:xfrm>
          <a:prstGeom prst="straightConnector1">
            <a:avLst/>
          </a:prstGeom>
          <a:noFill/>
          <a:ln w="12700" cap="flat" cmpd="sng" algn="ctr">
            <a:solidFill>
              <a:srgbClr val="ffffff">
                <a:alpha val="100000"/>
              </a:srgbClr>
            </a:solidFill>
            <a:prstDash val="solid"/>
            <a:tailEnd type="arrow"/>
          </a:ln>
        </p:spPr>
      </p:cxnSp>
      <p:cxnSp>
        <p:nvCxnSpPr>
          <p:cNvPr id="10" name="화살표 9"/>
          <p:cNvCxnSpPr>
            <a:stCxn id="8" idx="0"/>
            <a:endCxn id="7" idx="2"/>
          </p:cNvCxnSpPr>
          <p:nvPr/>
        </p:nvCxnSpPr>
        <p:spPr>
          <a:xfrm rot="16200000" flipV="1">
            <a:off x="1311827" y="2986919"/>
            <a:ext cx="1627863" cy="144823"/>
          </a:xfrm>
          <a:prstGeom prst="straightConnector1">
            <a:avLst/>
          </a:prstGeom>
          <a:noFill/>
          <a:ln w="12700" cap="flat" cmpd="sng" algn="ctr">
            <a:solidFill>
              <a:srgbClr val="ffffff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13" name="직사각형 12"/>
          <p:cNvSpPr/>
          <p:nvPr/>
        </p:nvSpPr>
        <p:spPr>
          <a:xfrm>
            <a:off x="830218" y="720641"/>
            <a:ext cx="1722605" cy="54934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git GUI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버튼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14" name="화살표 13"/>
          <p:cNvCxnSpPr>
            <a:stCxn id="13" idx="2"/>
            <a:endCxn id="5" idx="3"/>
          </p:cNvCxnSpPr>
          <p:nvPr/>
        </p:nvCxnSpPr>
        <p:spPr>
          <a:xfrm rot="10800000" flipV="1">
            <a:off x="404441" y="1269983"/>
            <a:ext cx="1287080" cy="292724"/>
          </a:xfrm>
          <a:prstGeom prst="straightConnector1">
            <a:avLst/>
          </a:prstGeom>
          <a:noFill/>
          <a:ln w="12700" cap="flat" cmpd="sng" algn="ctr">
            <a:solidFill>
              <a:srgbClr val="ffffff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17" name="모서리가 둥근 직사각형 16"/>
          <p:cNvSpPr/>
          <p:nvPr/>
        </p:nvSpPr>
        <p:spPr>
          <a:xfrm>
            <a:off x="3066229" y="94236"/>
            <a:ext cx="6079787" cy="344521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109925" y="1013365"/>
            <a:ext cx="2925052" cy="54934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가져올 리포의 주소 입력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19" name="화살표 18"/>
          <p:cNvCxnSpPr>
            <a:stCxn id="18" idx="0"/>
            <a:endCxn id="17" idx="2"/>
          </p:cNvCxnSpPr>
          <p:nvPr/>
        </p:nvCxnSpPr>
        <p:spPr>
          <a:xfrm rot="5400000" flipH="1" flipV="1">
            <a:off x="5551983" y="459225"/>
            <a:ext cx="574607" cy="533671"/>
          </a:xfrm>
          <a:prstGeom prst="straightConnector1">
            <a:avLst/>
          </a:prstGeom>
          <a:noFill/>
          <a:ln w="12700" cap="flat" cmpd="sng" algn="ctr">
            <a:solidFill>
              <a:srgbClr val="ffffff">
                <a:alpha val="100000"/>
              </a:srgbClr>
            </a:solidFill>
            <a:prstDash val="solid"/>
            <a:tailEnd type="arrow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5530483"/>
            <a:ext cx="2323154" cy="132751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555987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10510600" y="918014"/>
            <a:ext cx="1567234" cy="565454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6903261" y="3289132"/>
            <a:ext cx="4884094" cy="511411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가로 글상자 8"/>
          <p:cNvSpPr txBox="1"/>
          <p:nvPr/>
        </p:nvSpPr>
        <p:spPr>
          <a:xfrm>
            <a:off x="2444931" y="5559870"/>
            <a:ext cx="7302137" cy="45036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endParaRPr lang="ko-KR" altLang="en-US" sz="2400"/>
          </a:p>
        </p:txBody>
      </p:sp>
      <p:sp>
        <p:nvSpPr>
          <p:cNvPr id="11" name="가로 글상자 10"/>
          <p:cNvSpPr txBox="1"/>
          <p:nvPr/>
        </p:nvSpPr>
        <p:spPr>
          <a:xfrm>
            <a:off x="2323154" y="5832078"/>
            <a:ext cx="9160214" cy="72432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100"/>
              <a:t>연결할 리포로 가서 </a:t>
            </a:r>
            <a:r>
              <a:rPr lang="en-US" altLang="ko-KR" sz="2100"/>
              <a:t>HTTPS</a:t>
            </a:r>
            <a:r>
              <a:rPr lang="ko-KR" altLang="en-US" sz="2100"/>
              <a:t> 주소를 </a:t>
            </a:r>
            <a:r>
              <a:rPr lang="en-US" altLang="ko-KR" sz="2100"/>
              <a:t>VSCode</a:t>
            </a:r>
            <a:r>
              <a:rPr lang="ko-KR" altLang="en-US" sz="2100"/>
              <a:t>에 입력한다 </a:t>
            </a:r>
            <a:endParaRPr xmlns:mc="http://schemas.openxmlformats.org/markup-compatibility/2006" xmlns:hp="http://schemas.haansoft.com/office/presentation/8.0" kumimoji="0" lang="ko-KR" altLang="en-US" sz="2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작업할 폴더에 </a:t>
            </a:r>
            <a:r>
              <a:rPr xmlns:mc="http://schemas.openxmlformats.org/markup-compatibility/2006" xmlns:hp="http://schemas.haansoft.com/office/presentation/8.0" kumimoji="0" lang="en-US" altLang="ko-KR" sz="2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.git</a:t>
            </a:r>
            <a:r>
              <a:rPr xmlns:mc="http://schemas.openxmlformats.org/markup-compatibility/2006" xmlns:hp="http://schemas.haansoft.com/office/presentation/8.0" kumimoji="0" lang="ko-KR" altLang="en-US" sz="2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이라는 숨김폴더가 생성되면 </a:t>
            </a:r>
            <a:r>
              <a:rPr xmlns:mc="http://schemas.openxmlformats.org/markup-compatibility/2006" xmlns:hp="http://schemas.haansoft.com/office/presentation/8.0" kumimoji="0" lang="en-US" altLang="ko-KR" sz="2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git</a:t>
            </a:r>
            <a:r>
              <a:rPr xmlns:mc="http://schemas.openxmlformats.org/markup-compatibility/2006" xmlns:hp="http://schemas.haansoft.com/office/presentation/8.0" kumimoji="0" lang="ko-KR" altLang="en-US" sz="2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과 </a:t>
            </a:r>
            <a:r>
              <a:rPr xmlns:mc="http://schemas.openxmlformats.org/markup-compatibility/2006" xmlns:hp="http://schemas.haansoft.com/office/presentation/8.0" kumimoji="0" lang="en-US" altLang="ko-KR" sz="2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VSCode</a:t>
            </a:r>
            <a:r>
              <a:rPr xmlns:mc="http://schemas.openxmlformats.org/markup-compatibility/2006" xmlns:hp="http://schemas.haansoft.com/office/presentation/8.0" kumimoji="0" lang="ko-KR" altLang="en-US" sz="2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연동이 완료된 것 </a:t>
            </a:r>
            <a:endParaRPr xmlns:mc="http://schemas.openxmlformats.org/markup-compatibility/2006" xmlns:hp="http://schemas.haansoft.com/office/presentation/8.0" kumimoji="0" lang="ko-KR" altLang="en-US" sz="2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방법 </a:t>
            </a:r>
            <a:r>
              <a:rPr lang="en-US" altLang="ko-KR"/>
              <a:t>1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리포의 관리자</a:t>
            </a:r>
            <a:r>
              <a:rPr lang="en-US" altLang="ko-KR"/>
              <a:t>(</a:t>
            </a:r>
            <a:r>
              <a:rPr lang="ko-KR" altLang="en-US"/>
              <a:t>팀장</a:t>
            </a:r>
            <a:r>
              <a:rPr lang="en-US" altLang="ko-KR"/>
              <a:t>)</a:t>
            </a:r>
            <a:r>
              <a:rPr lang="ko-KR" altLang="en-US"/>
              <a:t>가 팀원을 </a:t>
            </a:r>
            <a:r>
              <a:rPr lang="en-US" altLang="ko-KR"/>
              <a:t>collaborators</a:t>
            </a:r>
            <a:r>
              <a:rPr lang="ko-KR" altLang="en-US"/>
              <a:t>로 지정하여 하나의 </a:t>
            </a:r>
            <a:r>
              <a:rPr lang="en-US" altLang="ko-KR"/>
              <a:t>branch</a:t>
            </a:r>
            <a:r>
              <a:rPr lang="ko-KR" altLang="en-US"/>
              <a:t>로 팀원들이 같이 수정함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방법 </a:t>
            </a:r>
            <a:r>
              <a:rPr lang="en-US" altLang="ko-KR"/>
              <a:t>2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각 팀원들이 팀장의 리포를 </a:t>
            </a:r>
            <a:r>
              <a:rPr lang="en-US" altLang="ko-KR"/>
              <a:t>fork</a:t>
            </a:r>
            <a:r>
              <a:rPr lang="ko-KR" altLang="en-US"/>
              <a:t>해 자신의 개별 리포에서 수정한 후 팀장의 리포에 </a:t>
            </a:r>
            <a:r>
              <a:rPr lang="en-US" altLang="ko-KR"/>
              <a:t>Pull Request(PR)</a:t>
            </a:r>
            <a:r>
              <a:rPr lang="ko-KR" altLang="en-US"/>
              <a:t>함 이후 팀장이 </a:t>
            </a:r>
            <a:r>
              <a:rPr lang="en-US" altLang="ko-KR"/>
              <a:t>PR</a:t>
            </a:r>
            <a:r>
              <a:rPr lang="ko-KR" altLang="en-US"/>
              <a:t>을 보고 </a:t>
            </a:r>
            <a:r>
              <a:rPr lang="en-US" altLang="ko-KR"/>
              <a:t>merge</a:t>
            </a:r>
            <a:r>
              <a:rPr lang="ko-KR" altLang="en-US"/>
              <a:t>를 고려함</a:t>
            </a:r>
            <a:endParaRPr lang="ko-KR" altLang="en-US"/>
          </a:p>
        </p:txBody>
      </p:sp>
      <p:sp>
        <p:nvSpPr>
          <p:cNvPr id="8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 vert="horz" lIns="91440" tIns="45720" rIns="91440" bIns="45720" anchor="ctr">
            <a:normAutofit/>
          </a:bodyPr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5.</a:t>
            </a:r>
            <a:r>
              <a: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git</a:t>
            </a:r>
            <a:r>
              <a: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을 통해 협업하기</a:t>
            </a:r>
            <a:endPara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방법 </a:t>
            </a:r>
            <a:r>
              <a:rPr lang="en-US" altLang="ko-KR"/>
              <a:t>1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팀장이 멤버들을 </a:t>
            </a:r>
            <a:r>
              <a:rPr lang="en-US" altLang="ko-KR"/>
              <a:t>collaborators</a:t>
            </a:r>
            <a:r>
              <a:rPr lang="ko-KR" altLang="en-US"/>
              <a:t>로 초대한 후 멤버가 초대를 수락하면 협력자가 되어 팀장의 리포에 직접 </a:t>
            </a:r>
            <a:r>
              <a:rPr lang="en-US" altLang="ko-KR"/>
              <a:t>push</a:t>
            </a:r>
            <a:r>
              <a:rPr lang="ko-KR" altLang="en-US"/>
              <a:t>할 수 있는 권한을 가지게 된다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팀장의 리포를 직접 수정하며 멤버 전체가 함께 참여함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방법 </a:t>
            </a:r>
            <a:r>
              <a:rPr lang="en-US" altLang="ko-KR"/>
              <a:t>2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팀장의 리포를 복사하여 각각 독립된 리포를 가지고 작업함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팀장이 권한을 주지 않아도 멤버가 작업을 할 수 있음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직접적으로 원본 리포를 수정하는 것은 불가능하고 자신이 변경한 리포를 </a:t>
            </a:r>
            <a:r>
              <a:rPr lang="en-US" altLang="ko-KR"/>
              <a:t>PR</a:t>
            </a:r>
            <a:r>
              <a:rPr lang="ko-KR" altLang="en-US"/>
              <a:t>하여 팀장에게 원본 리포의 수정을 건의함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실제 회사에선 </a:t>
            </a:r>
            <a:r>
              <a:rPr lang="en-US" altLang="ko-KR"/>
              <a:t>fork</a:t>
            </a:r>
            <a:r>
              <a:rPr lang="ko-KR" altLang="en-US"/>
              <a:t> 형식의 협업을 자주 진행한다고 함</a:t>
            </a:r>
            <a:br>
              <a:rPr lang="ko-KR" altLang="en-US"/>
            </a:br>
            <a:r>
              <a:rPr lang="ko-KR" altLang="en-US"/>
              <a:t>그래서 우리도 </a:t>
            </a:r>
            <a:r>
              <a:rPr lang="en-US" altLang="ko-KR"/>
              <a:t>fork</a:t>
            </a:r>
            <a:r>
              <a:rPr lang="ko-KR" altLang="en-US"/>
              <a:t> 방식으로 협업을 해보도록 할거임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fork</a:t>
            </a:r>
            <a:r>
              <a:rPr lang="ko-KR" altLang="en-US"/>
              <a:t>로 협업하기</a:t>
            </a: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6161" y="1417638"/>
            <a:ext cx="12204323" cy="3451827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9325649" y="1524776"/>
            <a:ext cx="1425373" cy="282727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가로 글상자 7"/>
          <p:cNvSpPr txBox="1"/>
          <p:nvPr/>
        </p:nvSpPr>
        <p:spPr>
          <a:xfrm>
            <a:off x="4625380" y="4869465"/>
            <a:ext cx="2941240" cy="36545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예시용 내 테스트 계정 리포</a:t>
            </a:r>
            <a:endParaRPr lang="ko-KR" altLang="en-US"/>
          </a:p>
        </p:txBody>
      </p:sp>
      <p:sp>
        <p:nvSpPr>
          <p:cNvPr id="5" name="가로 글상자 4"/>
          <p:cNvSpPr txBox="1"/>
          <p:nvPr/>
        </p:nvSpPr>
        <p:spPr>
          <a:xfrm>
            <a:off x="6543619" y="1902295"/>
            <a:ext cx="5564061" cy="35889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우선 협업을 진행할 팀장의 리포로 가서 </a:t>
            </a:r>
            <a:r>
              <a:rPr lang="en-US" altLang="ko-KR"/>
              <a:t>Fork</a:t>
            </a:r>
            <a:r>
              <a:rPr lang="ko-KR" altLang="en-US"/>
              <a:t>를 누른다</a:t>
            </a:r>
            <a:endParaRPr lang="en-US" altLang="ko-KR"/>
          </a:p>
        </p:txBody>
      </p:sp>
      <p:sp>
        <p:nvSpPr>
          <p:cNvPr id="9" name="가로 글상자 8"/>
          <p:cNvSpPr txBox="1"/>
          <p:nvPr/>
        </p:nvSpPr>
        <p:spPr>
          <a:xfrm>
            <a:off x="3350605" y="5751715"/>
            <a:ext cx="8432030" cy="69443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000"/>
              <a:t>이후 화면에서 나오는 </a:t>
            </a:r>
            <a:r>
              <a:rPr lang="en-US" altLang="ko-KR" sz="2000"/>
              <a:t>create fork</a:t>
            </a:r>
            <a:r>
              <a:rPr lang="ko-KR" altLang="en-US" sz="2000"/>
              <a:t>를 누르면 내 계정의 리포에 팀장의 리포가 복제 되어있는 것을 확인할 수 있다 </a:t>
            </a:r>
            <a:endParaRPr lang="en-US" altLang="ko-KR" sz="200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9477" y="5637331"/>
            <a:ext cx="2869024" cy="923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Fork</a:t>
            </a:r>
            <a:r>
              <a:rPr lang="ko-KR" altLang="en-US"/>
              <a:t>에 대해 미리 알아야할 기본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609658" y="5356158"/>
            <a:ext cx="8972684" cy="1398250"/>
          </a:xfrm>
        </p:spPr>
        <p:txBody>
          <a:bodyPr>
            <a:normAutofit lnSpcReduction="10000"/>
          </a:bodyPr>
          <a:lstStyle/>
          <a:p>
            <a:pPr marL="342900" lvl="0" indent="-342900">
              <a:defRPr/>
            </a:pPr>
            <a:r>
              <a:rPr lang="en-US" altLang="ko-KR" sz="2400"/>
              <a:t>origin, upstream</a:t>
            </a:r>
            <a:r>
              <a:rPr lang="ko-KR" altLang="en-US" sz="2400"/>
              <a:t>라는 두 가지의 저장소에 대해 알 필요가 있다 </a:t>
            </a:r>
            <a:r>
              <a:rPr lang="en-US" altLang="ko-KR" sz="2400"/>
              <a:t>origin</a:t>
            </a:r>
            <a:r>
              <a:rPr lang="ko-KR" altLang="en-US" sz="2400"/>
              <a:t>은 </a:t>
            </a:r>
            <a:r>
              <a:rPr lang="en-US" altLang="ko-KR" sz="2400"/>
              <a:t>fork</a:t>
            </a:r>
            <a:r>
              <a:rPr lang="ko-KR" altLang="en-US" sz="2400"/>
              <a:t>해온 나의 리포이고 </a:t>
            </a:r>
            <a:r>
              <a:rPr lang="en-US" altLang="ko-KR" sz="2400"/>
              <a:t>upstream</a:t>
            </a:r>
            <a:r>
              <a:rPr lang="ko-KR" altLang="en-US" sz="2400"/>
              <a:t>은 </a:t>
            </a:r>
            <a:r>
              <a:rPr lang="en-US" altLang="ko-KR" sz="2400"/>
              <a:t>fork</a:t>
            </a:r>
            <a:r>
              <a:rPr lang="ko-KR" altLang="en-US" sz="2400"/>
              <a:t>당한 원본 리포를 뜻한다</a:t>
            </a:r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136302" y="1417638"/>
            <a:ext cx="7919394" cy="3835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 idx="0"/>
          </p:nvPr>
        </p:nvSpPr>
        <p:spPr>
          <a:xfrm>
            <a:off x="609599" y="74613"/>
            <a:ext cx="10972798" cy="1143000"/>
          </a:xfrm>
        </p:spPr>
        <p:txBody>
          <a:bodyPr vert="horz" lIns="91440" tIns="45720" rIns="91440" bIns="45720" anchor="ctr">
            <a:normAutofit/>
          </a:bodyPr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Fork</a:t>
            </a:r>
            <a:r>
              <a: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한 리포</a:t>
            </a: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upstream</a:t>
            </a:r>
            <a:r>
              <a: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연결하기</a:t>
            </a:r>
            <a:endPara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90478" y="1046716"/>
            <a:ext cx="8367121" cy="5564205"/>
          </a:xfrm>
          <a:prstGeom prst="rect">
            <a:avLst/>
          </a:prstGeom>
        </p:spPr>
      </p:pic>
      <p:sp>
        <p:nvSpPr>
          <p:cNvPr id="4" name="가로 글상자 3"/>
          <p:cNvSpPr txBox="1"/>
          <p:nvPr/>
        </p:nvSpPr>
        <p:spPr>
          <a:xfrm>
            <a:off x="2717556" y="4004137"/>
            <a:ext cx="6756888" cy="642158"/>
          </a:xfrm>
          <a:prstGeom prst="rect">
            <a:avLst/>
          </a:prstGeom>
          <a:solidFill>
            <a:srgbClr val="ffffff"/>
          </a:solidFill>
          <a:ln>
            <a:solidFill>
              <a:schemeClr val="dk1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Fork</a:t>
            </a:r>
            <a:r>
              <a:rPr lang="ko-KR" altLang="en-US"/>
              <a:t>한 리포를 </a:t>
            </a:r>
            <a:r>
              <a:rPr lang="en-US" altLang="ko-KR"/>
              <a:t>VSCode</a:t>
            </a:r>
            <a:r>
              <a:rPr lang="ko-KR" altLang="en-US"/>
              <a:t>에 연동한다 이때 주소는 자신의 리포 주소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터미널에</a:t>
            </a:r>
            <a:r>
              <a:rPr lang="en-US" altLang="ko-KR"/>
              <a:t> git remote add upstream {</a:t>
            </a:r>
            <a:r>
              <a:rPr lang="ko-KR" altLang="en-US"/>
              <a:t>원본 리포 주소</a:t>
            </a:r>
            <a:r>
              <a:rPr lang="en-US" altLang="ko-KR"/>
              <a:t>}</a:t>
            </a:r>
            <a:r>
              <a:rPr lang="ko-KR" altLang="en-US"/>
              <a:t> 를 입력한다</a:t>
            </a:r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85249" y="5598850"/>
            <a:ext cx="8376964" cy="59168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9" name="모서리가 둥근 직사각형 8"/>
          <p:cNvSpPr/>
          <p:nvPr/>
        </p:nvSpPr>
        <p:spPr>
          <a:xfrm>
            <a:off x="2717556" y="4955701"/>
            <a:ext cx="3746609" cy="351277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10" name="선 9"/>
          <p:cNvCxnSpPr/>
          <p:nvPr/>
        </p:nvCxnSpPr>
        <p:spPr>
          <a:xfrm>
            <a:off x="2717556" y="5306979"/>
            <a:ext cx="567693" cy="2918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선 10"/>
          <p:cNvCxnSpPr/>
          <p:nvPr/>
        </p:nvCxnSpPr>
        <p:spPr>
          <a:xfrm>
            <a:off x="6464169" y="5306978"/>
            <a:ext cx="5198044" cy="2918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217613"/>
            <a:ext cx="8481962" cy="5640575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 idx="0"/>
          </p:nvPr>
        </p:nvSpPr>
        <p:spPr>
          <a:xfrm>
            <a:off x="609599" y="74613"/>
            <a:ext cx="10972798" cy="1143000"/>
          </a:xfrm>
          <a:solidFill>
            <a:srgbClr val="ffffff"/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본격적으로 협업하기</a:t>
            </a:r>
            <a:endPara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가로 글상자 4"/>
          <p:cNvSpPr txBox="1"/>
          <p:nvPr/>
        </p:nvSpPr>
        <p:spPr>
          <a:xfrm>
            <a:off x="2730770" y="2179266"/>
            <a:ext cx="9152620" cy="1609779"/>
          </a:xfrm>
          <a:prstGeom prst="rect">
            <a:avLst/>
          </a:prstGeom>
          <a:solidFill>
            <a:srgbClr val="ffffff"/>
          </a:solidFill>
          <a:ln>
            <a:solidFill>
              <a:schemeClr val="dk1"/>
            </a:solidFill>
          </a:ln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2400"/>
              <a:t>협업하는 방법</a:t>
            </a:r>
            <a:r>
              <a:rPr lang="en-US" altLang="ko-KR" sz="2400"/>
              <a:t>!</a:t>
            </a:r>
            <a:endParaRPr lang="en-US" altLang="ko-KR" sz="2400"/>
          </a:p>
          <a:p>
            <a:pPr lvl="0">
              <a:defRPr/>
            </a:pPr>
            <a:r>
              <a:rPr lang="en-US" altLang="ko-KR" sz="1900"/>
              <a:t>1.</a:t>
            </a:r>
            <a:r>
              <a:rPr lang="ko-KR" altLang="en-US" sz="1900"/>
              <a:t> 우선 개인 리포에서 자신이 작업할 브랜치를 만든다	</a:t>
            </a:r>
            <a:r>
              <a:rPr lang="en-US" altLang="ko-KR" sz="1900"/>
              <a:t>git branch &lt;</a:t>
            </a:r>
            <a:r>
              <a:rPr lang="ko-KR" altLang="en-US" sz="1900"/>
              <a:t>브랜치 이름</a:t>
            </a:r>
            <a:r>
              <a:rPr lang="en-US" altLang="ko-KR" sz="1900"/>
              <a:t>&gt;</a:t>
            </a:r>
            <a:endParaRPr lang="en-US" altLang="ko-KR" sz="1900"/>
          </a:p>
          <a:p>
            <a:pPr lvl="0">
              <a:defRPr/>
            </a:pPr>
            <a:r>
              <a:rPr lang="ko-KR" altLang="en-US" sz="1900"/>
              <a:t>	</a:t>
            </a:r>
            <a:r>
              <a:rPr lang="en-US" altLang="ko-KR" sz="1900"/>
              <a:t>-</a:t>
            </a:r>
            <a:r>
              <a:rPr lang="ko-KR" altLang="en-US" sz="1300"/>
              <a:t>이러는 이유는 개인 리포에서도 관리하기 위해 자신있으면 필요없음</a:t>
            </a:r>
            <a:endParaRPr lang="ko-KR" altLang="en-US" sz="1300"/>
          </a:p>
          <a:p>
            <a:pPr lvl="0">
              <a:defRPr/>
            </a:pPr>
            <a:r>
              <a:rPr lang="en-US" altLang="ko-KR" sz="1900"/>
              <a:t>2.</a:t>
            </a:r>
            <a:r>
              <a:rPr lang="ko-KR" altLang="en-US" sz="1900"/>
              <a:t> 수정할 브랜치로 변환</a:t>
            </a:r>
            <a:r>
              <a:rPr lang="en-US" altLang="ko-KR" sz="1900"/>
              <a:t>(switch)</a:t>
            </a:r>
            <a:r>
              <a:rPr lang="ko-KR" altLang="en-US" sz="1900"/>
              <a:t> 후 </a:t>
            </a:r>
            <a:r>
              <a:rPr lang="en-US" altLang="ko-KR" sz="1900"/>
              <a:t>Publish Branch</a:t>
            </a:r>
            <a:r>
              <a:rPr lang="ko-KR" altLang="en-US" sz="1900"/>
              <a:t>한다	</a:t>
            </a:r>
            <a:r>
              <a:rPr lang="en-US" altLang="ko-KR" sz="1900"/>
              <a:t>git switch &lt;</a:t>
            </a:r>
            <a:r>
              <a:rPr lang="ko-KR" altLang="en-US" sz="1900"/>
              <a:t>브랜치 이름</a:t>
            </a:r>
            <a:r>
              <a:rPr lang="en-US" altLang="ko-KR" sz="1900"/>
              <a:t>&gt;</a:t>
            </a:r>
            <a:endParaRPr lang="en-US" altLang="ko-KR" sz="1900"/>
          </a:p>
          <a:p>
            <a:pPr lvl="0">
              <a:defRPr/>
            </a:pPr>
            <a:r>
              <a:rPr lang="ko-KR" altLang="en-US" sz="1900"/>
              <a:t>	</a:t>
            </a:r>
            <a:r>
              <a:rPr lang="en-US" altLang="ko-KR" sz="1900"/>
              <a:t>-</a:t>
            </a:r>
            <a:r>
              <a:rPr lang="en-US" altLang="ko-KR" sz="1200"/>
              <a:t>switch</a:t>
            </a:r>
            <a:r>
              <a:rPr lang="ko-KR" altLang="en-US" sz="1200"/>
              <a:t>하고 </a:t>
            </a:r>
            <a:r>
              <a:rPr lang="en-US" altLang="ko-KR" sz="1200"/>
              <a:t>git GUI</a:t>
            </a:r>
            <a:r>
              <a:rPr lang="ko-KR" altLang="en-US" sz="1200"/>
              <a:t>부분에서 </a:t>
            </a:r>
            <a:r>
              <a:rPr lang="en-US" altLang="ko-KR" sz="1200"/>
              <a:t>Publish Branch </a:t>
            </a:r>
            <a:r>
              <a:rPr lang="ko-KR" altLang="en-US" sz="1200"/>
              <a:t>누르고 저장소는 </a:t>
            </a:r>
            <a:r>
              <a:rPr lang="en-US" altLang="ko-KR" sz="1200"/>
              <a:t>origin</a:t>
            </a:r>
            <a:r>
              <a:rPr lang="ko-KR" altLang="en-US" sz="1200"/>
              <a:t>으로</a:t>
            </a:r>
            <a:endParaRPr lang="ko-KR" altLang="en-US" sz="1200"/>
          </a:p>
        </p:txBody>
      </p:sp>
      <p:sp>
        <p:nvSpPr>
          <p:cNvPr id="7" name="모서리가 둥근 직사각형 6"/>
          <p:cNvSpPr/>
          <p:nvPr/>
        </p:nvSpPr>
        <p:spPr>
          <a:xfrm>
            <a:off x="435648" y="2409718"/>
            <a:ext cx="2040107" cy="282727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158255" y="1477490"/>
            <a:ext cx="4201809" cy="282727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75755" y="4856921"/>
            <a:ext cx="3620244" cy="1985649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/>
        </p:nvSpPr>
        <p:spPr>
          <a:xfrm>
            <a:off x="2959165" y="5169671"/>
            <a:ext cx="2040107" cy="282727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2959165" y="6027597"/>
            <a:ext cx="2040107" cy="282727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096000" y="5036363"/>
            <a:ext cx="1722605" cy="54934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branch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생성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13" name="화살표 12"/>
          <p:cNvCxnSpPr>
            <a:stCxn id="12" idx="1"/>
            <a:endCxn id="10" idx="3"/>
          </p:cNvCxnSpPr>
          <p:nvPr/>
        </p:nvCxnSpPr>
        <p:spPr>
          <a:xfrm rot="10800000">
            <a:off x="4999272" y="5311034"/>
            <a:ext cx="1096728" cy="1"/>
          </a:xfrm>
          <a:prstGeom prst="straightConnector1">
            <a:avLst/>
          </a:prstGeom>
          <a:noFill/>
          <a:ln w="12700" cap="flat" cmpd="sng" algn="ctr">
            <a:solidFill>
              <a:srgbClr val="ffffff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14" name="직사각형 13"/>
          <p:cNvSpPr/>
          <p:nvPr/>
        </p:nvSpPr>
        <p:spPr>
          <a:xfrm>
            <a:off x="6096000" y="5894290"/>
            <a:ext cx="1722605" cy="54934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branch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변경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15" name="화살표 14"/>
          <p:cNvCxnSpPr>
            <a:stCxn id="14" idx="1"/>
            <a:endCxn id="11" idx="3"/>
          </p:cNvCxnSpPr>
          <p:nvPr/>
        </p:nvCxnSpPr>
        <p:spPr>
          <a:xfrm rot="10800000">
            <a:off x="4999272" y="6168961"/>
            <a:ext cx="1096728" cy="3"/>
          </a:xfrm>
          <a:prstGeom prst="straightConnector1">
            <a:avLst/>
          </a:prstGeom>
          <a:noFill/>
          <a:ln w="12700" cap="flat" cmpd="sng" algn="ctr">
            <a:solidFill>
              <a:srgbClr val="ffffff">
                <a:alpha val="100000"/>
              </a:srgbClr>
            </a:solidFill>
            <a:prstDash val="solid"/>
            <a:tailEnd type="arrow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5479" y="1109528"/>
            <a:ext cx="3131518" cy="2573604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 idx="0"/>
          </p:nvPr>
        </p:nvSpPr>
        <p:spPr>
          <a:xfrm>
            <a:off x="609599" y="74613"/>
            <a:ext cx="10972798" cy="1143000"/>
          </a:xfrm>
          <a:solidFill>
            <a:srgbClr val="ffffff">
              <a:alpha val="100000"/>
            </a:srgbClr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본격적으로 협업하기</a:t>
            </a:r>
            <a:endPara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6" name="가로 글상자 5"/>
          <p:cNvSpPr txBox="1"/>
          <p:nvPr/>
        </p:nvSpPr>
        <p:spPr>
          <a:xfrm>
            <a:off x="1522955" y="1487414"/>
            <a:ext cx="1776757" cy="90891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수정된 파일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M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추가된 파일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U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삭제된 파일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D</a:t>
            </a:r>
            <a:endParaRPr lang="en-US" altLang="ko-KR"/>
          </a:p>
        </p:txBody>
      </p:sp>
      <p:sp>
        <p:nvSpPr>
          <p:cNvPr id="8" name="가로 글상자 7"/>
          <p:cNvSpPr txBox="1"/>
          <p:nvPr/>
        </p:nvSpPr>
        <p:spPr>
          <a:xfrm>
            <a:off x="3908044" y="1487414"/>
            <a:ext cx="5111184" cy="127603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400"/>
              <a:t>코드 수정을 전부 마쳤다면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git add .</a:t>
            </a:r>
            <a:r>
              <a:rPr lang="ko-KR" altLang="en-US"/>
              <a:t> 명령어를 통해 자신의 코드를 스테이징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git commit -m “messege”</a:t>
            </a:r>
            <a:r>
              <a:rPr lang="ko-KR" altLang="en-US"/>
              <a:t> 명령어를 통해 코밋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</a:t>
            </a:r>
            <a:r>
              <a:rPr lang="en-US" altLang="ko-KR"/>
              <a:t>git push origin {</a:t>
            </a:r>
            <a:r>
              <a:rPr lang="ko-KR" altLang="en-US"/>
              <a:t>브랜치 이름</a:t>
            </a:r>
            <a:r>
              <a:rPr lang="en-US" altLang="ko-KR"/>
              <a:t>}</a:t>
            </a:r>
            <a:endParaRPr lang="en-US" altLang="ko-KR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5479" y="3960470"/>
            <a:ext cx="8773749" cy="2476845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/>
        </p:nvSpPr>
        <p:spPr>
          <a:xfrm>
            <a:off x="7120441" y="4804883"/>
            <a:ext cx="1756384" cy="465120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196850" y="4762772"/>
            <a:ext cx="2296806" cy="54934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수정된 코드 확인 및 리포 변경하기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13" name="화살표 12"/>
          <p:cNvCxnSpPr>
            <a:stCxn id="12" idx="3"/>
            <a:endCxn id="11" idx="1"/>
          </p:cNvCxnSpPr>
          <p:nvPr/>
        </p:nvCxnSpPr>
        <p:spPr>
          <a:xfrm>
            <a:off x="5493657" y="5037443"/>
            <a:ext cx="1626784" cy="0"/>
          </a:xfrm>
          <a:prstGeom prst="straightConnector1">
            <a:avLst/>
          </a:prstGeom>
          <a:noFill/>
          <a:ln w="12700" cap="flat" cmpd="sng" algn="ctr">
            <a:solidFill>
              <a:srgbClr val="ffffff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14" name="직사각형 13"/>
          <p:cNvSpPr/>
          <p:nvPr/>
        </p:nvSpPr>
        <p:spPr>
          <a:xfrm>
            <a:off x="2088977" y="5312114"/>
            <a:ext cx="4512552" cy="54934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만약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main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브랜치에서 수정했다면 이 과정 없이 바로 리포에 반영됨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idx="0"/>
          </p:nvPr>
        </p:nvSpPr>
        <p:spPr>
          <a:xfrm>
            <a:off x="609599" y="74613"/>
            <a:ext cx="10972798" cy="1143000"/>
          </a:xfrm>
          <a:solidFill>
            <a:srgbClr val="ffffff">
              <a:alpha val="100000"/>
            </a:srgbClr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본격적으로 협업하기</a:t>
            </a:r>
            <a:endPara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995425"/>
            <a:ext cx="12191999" cy="5790536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2432062" y="1523998"/>
            <a:ext cx="7327876" cy="636272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마지막으로 자신의 변경된 리포를 실제 작업에 반영하기 위해 </a:t>
            </a:r>
            <a:r>
              <a:rPr lang="en-US" altLang="ko-KR"/>
              <a:t>PR</a:t>
            </a:r>
            <a:r>
              <a:rPr lang="ko-KR" altLang="en-US"/>
              <a:t>을 한다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제대로 수정이 됐다면 </a:t>
            </a:r>
            <a:r>
              <a:rPr lang="en-US" altLang="ko-KR"/>
              <a:t>Contribute</a:t>
            </a:r>
            <a:r>
              <a:rPr lang="ko-KR" altLang="en-US"/>
              <a:t>를 눌렀을 때 </a:t>
            </a:r>
            <a:r>
              <a:rPr lang="en-US" altLang="ko-KR"/>
              <a:t>Open pull request</a:t>
            </a:r>
            <a:r>
              <a:rPr lang="ko-KR" altLang="en-US"/>
              <a:t>가 뜬다</a:t>
            </a:r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8157548" y="2982144"/>
            <a:ext cx="1987171" cy="535429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7022087" y="5775874"/>
            <a:ext cx="2957212" cy="535429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9586784" cy="6858000"/>
          </a:xfrm>
          <a:prstGeom prst="rect">
            <a:avLst/>
          </a:prstGeom>
        </p:spPr>
      </p:pic>
      <p:sp>
        <p:nvSpPr>
          <p:cNvPr id="5" name="모서리가 둥근 직사각형 4"/>
          <p:cNvSpPr/>
          <p:nvPr/>
        </p:nvSpPr>
        <p:spPr>
          <a:xfrm>
            <a:off x="3009995" y="827196"/>
            <a:ext cx="1075203" cy="434099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3412342" y="2909186"/>
            <a:ext cx="399670" cy="292238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가로 글상자 6"/>
          <p:cNvSpPr txBox="1"/>
          <p:nvPr/>
        </p:nvSpPr>
        <p:spPr>
          <a:xfrm>
            <a:off x="871581" y="3429000"/>
            <a:ext cx="7592334" cy="1179195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</a:ln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중요한 부분이에용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왼쪽에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base repository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에는 팀장 리포의 작업용 브랜치를 선택하고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오른쪽의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head repository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는 개인 리포의 반영하고 싶은 브랜치를 선택한 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필요에 따라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description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을 추가한 후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create pull request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를 눌러용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7242608" y="6302788"/>
            <a:ext cx="2169564" cy="434099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311348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48648" y="0"/>
            <a:ext cx="7643351" cy="6858000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0" y="3984920"/>
            <a:ext cx="4548648" cy="173283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여기까지 알맞게 다 했다면 팀장이 리포에서 </a:t>
            </a:r>
            <a:r>
              <a:rPr lang="en-US" altLang="ko-KR"/>
              <a:t>Pull requests</a:t>
            </a:r>
            <a:r>
              <a:rPr lang="ko-KR" altLang="en-US"/>
              <a:t>를 볼 수 있다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팀장이 보고 작업 브랜치로 가져가서 추가 수정을 하거나 맘에 안 들면</a:t>
            </a:r>
            <a:r>
              <a:rPr lang="en-US" altLang="ko-KR"/>
              <a:t>Close pull request</a:t>
            </a:r>
            <a:r>
              <a:rPr lang="ko-KR" altLang="en-US"/>
              <a:t>를 통해 팀원이 보낸</a:t>
            </a:r>
            <a:r>
              <a:rPr lang="en-US" altLang="ko-KR"/>
              <a:t> PR</a:t>
            </a:r>
            <a:r>
              <a:rPr lang="ko-KR" altLang="en-US"/>
              <a:t>을 보류할 수도 있다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660</ep:Words>
  <ep:PresentationFormat>화면 슬라이드 쇼(4:3)</ep:PresentationFormat>
  <ep:Paragraphs>122</ep:Paragraphs>
  <ep:Slides>24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ep:HeadingPairs>
  <ep:TitlesOfParts>
    <vt:vector size="25" baseType="lpstr">
      <vt:lpstr>한컴오피스</vt:lpstr>
      <vt:lpstr>슬라이드 1</vt:lpstr>
      <vt:lpstr>목차</vt:lpstr>
      <vt:lpstr>1. git과 Github에 대하여</vt:lpstr>
      <vt:lpstr>2. Github 기본</vt:lpstr>
      <vt:lpstr>슬라이드 5</vt:lpstr>
      <vt:lpstr>슬라이드 6</vt:lpstr>
      <vt:lpstr>3. git의 기본</vt:lpstr>
      <vt:lpstr>git의 기본 명령어</vt:lpstr>
      <vt:lpstr>시각적 설명</vt:lpstr>
      <vt:lpstr>슬라이드 10</vt:lpstr>
      <vt:lpstr>4. git과 VSCode 연동하기</vt:lpstr>
      <vt:lpstr>슬라이드 12</vt:lpstr>
      <vt:lpstr>슬라이드 13</vt:lpstr>
      <vt:lpstr>5. git을 통해 협업하기</vt:lpstr>
      <vt:lpstr>방법 1</vt:lpstr>
      <vt:lpstr>방법 2</vt:lpstr>
      <vt:lpstr>fork로 협업하기</vt:lpstr>
      <vt:lpstr>Fork에 대해 미리 알아야할 기본</vt:lpstr>
      <vt:lpstr>Fork한 리포 upstream 연결하기</vt:lpstr>
      <vt:lpstr>본격적으로 협업하기</vt:lpstr>
      <vt:lpstr>본격적으로 협업하기</vt:lpstr>
      <vt:lpstr>본격적으로 협업하기</vt:lpstr>
      <vt:lpstr>슬라이드 23</vt:lpstr>
      <vt:lpstr>슬라이드 24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2025-06-22T13:54:53.263</dcterms:created>
  <dc:creator>thsdn</dc:creator>
  <cp:lastModifiedBy>thsdn</cp:lastModifiedBy>
  <dcterms:modified xsi:type="dcterms:W3CDTF">2025-06-23T05:12:09.142</dcterms:modified>
  <cp:revision>67</cp:revision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